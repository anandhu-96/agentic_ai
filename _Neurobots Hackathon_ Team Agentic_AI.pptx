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Roboto-regular.fntdata"/><Relationship Id="rId16" Type="http://schemas.openxmlformats.org/officeDocument/2006/relationships/font" Target="fonts/Raleway-boldItalic.fntdata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Anandhu-96/Agentic_AI/tree/main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hyperlink" Target="https://drive.google.com/drive/folders/1J9nJCZm7FaX1ATNVntQ6aPnXK1iq4Aat?usp=sharing" TargetMode="External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96119" y="389260"/>
            <a:ext cx="8151763" cy="290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 Neurobots Hackathon: Team Agentic_AI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96119" y="707901"/>
            <a:ext cx="8151763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ISIP — Industrial Safety Intelligence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29146" y="957858"/>
            <a:ext cx="4096345" cy="3796308"/>
          </a:xfrm>
          <a:prstGeom prst="roundRect">
            <a:avLst>
              <a:gd fmla="val 1764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522163" y="1027584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Team Members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63" y="1262955"/>
            <a:ext cx="93018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522163" y="1399877"/>
            <a:ext cx="3910310" cy="9525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22163" y="1465436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Joyal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22163" y="1680493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Vision Pipeline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63" y="1961778"/>
            <a:ext cx="93018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22163" y="2098700"/>
            <a:ext cx="3910310" cy="9525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22163" y="2164259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Anandhu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22163" y="2379315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Orchestrator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163" y="2660600"/>
            <a:ext cx="93018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522163" y="2797522"/>
            <a:ext cx="3910310" cy="9525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22163" y="2863081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Giri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22163" y="3078138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Telemetry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163" y="3359423"/>
            <a:ext cx="93018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522163" y="3496345"/>
            <a:ext cx="3910310" cy="9525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22163" y="3561904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22163" y="3776960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2163" y="4058245"/>
            <a:ext cx="93018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522163" y="4195167"/>
            <a:ext cx="3910310" cy="9525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22163" y="4260726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Adithyan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22163" y="4475783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90244" y="1027584"/>
            <a:ext cx="396240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0244" y="1251347"/>
            <a:ext cx="3962400" cy="55036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4830887" y="1353889"/>
            <a:ext cx="3719215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Team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830887" y="1568946"/>
            <a:ext cx="3719215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Axon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0244" y="1871439"/>
            <a:ext cx="3962400" cy="55036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4830887" y="1973982"/>
            <a:ext cx="3719215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Domain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30887" y="2189038"/>
            <a:ext cx="3719215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Edge AI for Industrial Safety &amp; Autonomous Hazard 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0244" y="2491532"/>
            <a:ext cx="3962400" cy="55036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4830887" y="2594074"/>
            <a:ext cx="3719215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30887" y="2809131"/>
            <a:ext cx="3719215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ISIP — Industrial Safety Intelligence Platform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15250" y="4754175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496119" y="566365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6119" y="100347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Why industrial safety AI is urgently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96119" y="1445344"/>
            <a:ext cx="2613868" cy="4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200"/>
              <a:buFont typeface="Raleway"/>
              <a:buNone/>
            </a:pPr>
            <a:r>
              <a:rPr b="0" i="0" lang="en-US" sz="3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96119" y="2009701"/>
            <a:ext cx="261386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Incidents Missed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96119" y="2277963"/>
            <a:ext cx="2613868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CCTV operators miss nearly half of safety incidents due to fatigue monitoring 8–16 feeds over 8+ hour shifts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264991" y="1445344"/>
            <a:ext cx="2613943" cy="4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200"/>
              <a:buFont typeface="Raleway"/>
              <a:buNone/>
            </a:pPr>
            <a:r>
              <a:rPr b="0" i="0" lang="en-US" sz="3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5000ms+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64991" y="2009701"/>
            <a:ext cx="261394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Cloud Latency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64991" y="2277963"/>
            <a:ext cx="261394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Cloud-based safety systems add 500ms–2s latency — far exceeding the ISO 13849-1 requirement of &lt;1s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033939" y="1445344"/>
            <a:ext cx="2613943" cy="4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200"/>
              <a:buFont typeface="Raleway"/>
              <a:buNone/>
            </a:pPr>
            <a:r>
              <a:rPr b="0" i="0" lang="en-US" sz="3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$2.3B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033939" y="2009701"/>
            <a:ext cx="261394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Market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033939" y="2277963"/>
            <a:ext cx="261394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Industrial safety market addressable by edge-first AI, particularly for offline, rural, and bandwidth-constrained facilities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06822" y="3012877"/>
            <a:ext cx="4103191" cy="1564258"/>
          </a:xfrm>
          <a:prstGeom prst="roundRect">
            <a:avLst>
              <a:gd fmla="val 5710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30796" y="3136850"/>
            <a:ext cx="385524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Consequence of One Missed Incident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30796" y="3454673"/>
            <a:ext cx="385524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single undetected safety event can result in equipment failure, toxic chemical exposure, or fatal injury. Human operators are physiologically incapable of sustained multi-feed vigilance — the system, not the operator, must close the gap.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728046" y="3136850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Target Users &amp;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28046" y="3454673"/>
            <a:ext cx="3924598" cy="10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Mining, oil &amp; gas, manufacturing, construction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safety-critical environments with zero tolerance for missed alerts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Rural and off-grid facilities with limited or zero cloud connectivity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Char char="•"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Edge-first is the </a:t>
            </a: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only viable architecture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offline industrial deployments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250" y="4765050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496119" y="430783"/>
            <a:ext cx="8151763" cy="381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Proposed Solution: Edge-First Safety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96119" y="1052661"/>
            <a:ext cx="8151763" cy="677019"/>
          </a:xfrm>
          <a:prstGeom prst="roundRect">
            <a:avLst>
              <a:gd fmla="val 7575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58" y="1225153"/>
            <a:ext cx="152623" cy="12203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892820" y="1203350"/>
            <a:ext cx="7633022" cy="38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Core Innovation:</a:t>
            </a: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Sub-20ms autonomous safety loop — detection → decision → E-Stop relay — entirely on-device with zero network dependency.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864891"/>
            <a:ext cx="847055" cy="8470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496119" y="2862188"/>
            <a:ext cx="1925241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YOLOv8 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96119" y="3125019"/>
            <a:ext cx="1925241" cy="96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PPE compliance, geofencing, and hazard detection. Helmet, vest, person, and machine classes — live bounding box overlays with confidence scores.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1601" y="1864891"/>
            <a:ext cx="847055" cy="84705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2571601" y="2862188"/>
            <a:ext cx="1925241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IIoT Telemetry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571601" y="3125019"/>
            <a:ext cx="1925241" cy="96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Temperature, vibration, and gas anomaly detection via Z-score + EMA. Arrhenius-based Remaining Useful Life (RUL) prediction for predictive maintenance.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7084" y="1864891"/>
            <a:ext cx="847055" cy="84705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647084" y="2862188"/>
            <a:ext cx="1925241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Async Event Broker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47084" y="3125019"/>
            <a:ext cx="1925241" cy="77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Priority-aware pub/sub architecture ensures safety events are never blocked by slow dashboards or heavy analytics workloads.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2566" y="1864891"/>
            <a:ext cx="847130" cy="84713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6722566" y="2862263"/>
            <a:ext cx="1925315" cy="190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Hardware Agnostic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22566" y="3125093"/>
            <a:ext cx="1925315" cy="77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Runs on Jetson Orin Nano ($249), Raspberry Pi 5 + Hailo-8 ($200), or Intel NUC. No vendor lock-in, no cloud subscription required.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96119" y="4229472"/>
            <a:ext cx="8151763" cy="483171"/>
          </a:xfrm>
          <a:prstGeom prst="roundRect">
            <a:avLst>
              <a:gd fmla="val 10614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8158" y="4401964"/>
            <a:ext cx="152623" cy="12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892820" y="4380161"/>
            <a:ext cx="809022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Only edge-first solution meeting </a:t>
            </a:r>
            <a:r>
              <a:rPr b="1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ISO 13849-1 PLd/PLe</a:t>
            </a: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safety integrity levels while operating fully offline in bandwidth-constrained facilities.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15250" y="4765050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496119" y="4173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Technical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96119" y="623515"/>
            <a:ext cx="815176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Three-layer pipeline with async orchestration and safety-critical output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854" y="766911"/>
            <a:ext cx="2852291" cy="16770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496119" y="2478807"/>
            <a:ext cx="860896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system processes two parallel data streams — video and sensor telemetry — through a central async event broker that prioritizes safety-critical events, ensuring the E-Stop relay trip path is never blocked by lower-priority output tasks.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96119" y="2618929"/>
            <a:ext cx="4000277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AI Models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750641"/>
            <a:ext cx="4000277" cy="3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605730" y="2822153"/>
            <a:ext cx="38191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YOLOv8n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05730" y="2949997"/>
            <a:ext cx="381915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Object detection — Helmet, Vest, Person, Machine classes. Real-time inference at 30 FPS (Jetson) / 15–20 FPS (Pi).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126804"/>
            <a:ext cx="4000277" cy="3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605730" y="3198316"/>
            <a:ext cx="38191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Z-score + EMA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05730" y="3326160"/>
            <a:ext cx="381915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Anomaly detection on streaming telemetry — catches thermal drift, vibration spikes, and gas concentration anomalies.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502968"/>
            <a:ext cx="4000277" cy="3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605730" y="3574479"/>
            <a:ext cx="38191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Arrhenius RUL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05730" y="3702323"/>
            <a:ext cx="38193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Thermal degradation curve used to predict Remaining Useful Life of industrial equipment before failure occurs.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652367" y="2618929"/>
            <a:ext cx="4000277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REST API Endpoints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652367" y="2750641"/>
            <a:ext cx="4000277" cy="759768"/>
          </a:xfrm>
          <a:prstGeom prst="roundRect">
            <a:avLst>
              <a:gd fmla="val 342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652367" y="2878857"/>
            <a:ext cx="4000277" cy="476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652367" y="3004691"/>
            <a:ext cx="4000277" cy="476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652367" y="3130525"/>
            <a:ext cx="4000277" cy="476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652367" y="3256359"/>
            <a:ext cx="4000277" cy="476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652367" y="3382194"/>
            <a:ext cx="4000277" cy="476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719265" y="2778770"/>
            <a:ext cx="113131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Method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517356" y="2778770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Endpoint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113612" y="2778770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719265" y="2904604"/>
            <a:ext cx="113131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517356" y="2904604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/health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113612" y="2904604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Node status snapshot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719265" y="3030438"/>
            <a:ext cx="113131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517356" y="3030438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/metrics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113612" y="3030438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Latency, FPS, alerts, E-Stop state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19265" y="3156272"/>
            <a:ext cx="113131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517356" y="3156272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/events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113612" y="3156272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Recent broker events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719265" y="3282107"/>
            <a:ext cx="113131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517356" y="3282107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/audit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113612" y="3282107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JSONL audit ledger rows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719265" y="3407941"/>
            <a:ext cx="113131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POST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517356" y="3407941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Consolas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/trigger-estop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3612" y="3407941"/>
            <a:ext cx="192948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Trip PLC relay (mode=HARD)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652367" y="3545235"/>
            <a:ext cx="4000277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Technology Stack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652367" y="3676948"/>
            <a:ext cx="1984623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719117" y="3743697"/>
            <a:ext cx="1851124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Python 3.11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667946" y="3676948"/>
            <a:ext cx="1984697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734696" y="3743697"/>
            <a:ext cx="1851199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FastAPI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652367" y="3938290"/>
            <a:ext cx="1984623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719117" y="4005039"/>
            <a:ext cx="1851124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Streamlit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667946" y="3938290"/>
            <a:ext cx="1984697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734696" y="4005039"/>
            <a:ext cx="1851199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YOLOv8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652367" y="4199632"/>
            <a:ext cx="1984623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719117" y="4266381"/>
            <a:ext cx="1851124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OpenCV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667946" y="4199632"/>
            <a:ext cx="1984697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734696" y="4266381"/>
            <a:ext cx="1851199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Pydantic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652367" y="4460974"/>
            <a:ext cx="4000277" cy="230386"/>
          </a:xfrm>
          <a:prstGeom prst="roundRect">
            <a:avLst>
              <a:gd fmla="val 1130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19117" y="4527724"/>
            <a:ext cx="3866778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aleway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Uvicorn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5250" y="4789050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96119" y="374600"/>
            <a:ext cx="8151763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Current Progress: Proof of Work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96119" y="722263"/>
            <a:ext cx="815176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Working prototype with full-stack implementation — ready for live demonstration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23565" y="1002506"/>
            <a:ext cx="4098057" cy="2390626"/>
          </a:xfrm>
          <a:prstGeom prst="roundRect">
            <a:avLst>
              <a:gd fmla="val 3035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24321" y="1084362"/>
            <a:ext cx="3896544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📁</a:t>
            </a: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GitHub Repository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24321" y="1323677"/>
            <a:ext cx="4353744" cy="150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 source code with modular architecture under </a:t>
            </a:r>
            <a:r>
              <a:rPr b="0" i="0" lang="en-US" sz="7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src/isip/</a:t>
            </a:r>
            <a:r>
              <a:rPr b="1" i="0" lang="en-US" sz="75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24321" y="1566639"/>
            <a:ext cx="1907307" cy="368498"/>
          </a:xfrm>
          <a:prstGeom prst="roundRect">
            <a:avLst>
              <a:gd fmla="val 1148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629841" y="1672158"/>
            <a:ext cx="1696269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vision/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513484" y="1566639"/>
            <a:ext cx="1907381" cy="368498"/>
          </a:xfrm>
          <a:prstGeom prst="roundRect">
            <a:avLst>
              <a:gd fmla="val 1148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2619003" y="1672158"/>
            <a:ext cx="169634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iiot/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24321" y="2016993"/>
            <a:ext cx="1907307" cy="368498"/>
          </a:xfrm>
          <a:prstGeom prst="roundRect">
            <a:avLst>
              <a:gd fmla="val 1148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29841" y="2122512"/>
            <a:ext cx="1696269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events/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513484" y="2016993"/>
            <a:ext cx="1907381" cy="368498"/>
          </a:xfrm>
          <a:prstGeom prst="roundRect">
            <a:avLst>
              <a:gd fmla="val 1148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619003" y="2122512"/>
            <a:ext cx="169634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4321" y="2467347"/>
            <a:ext cx="1907307" cy="368498"/>
          </a:xfrm>
          <a:prstGeom prst="roundRect">
            <a:avLst>
              <a:gd fmla="val 1148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29841" y="2572866"/>
            <a:ext cx="1696269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control/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513484" y="2467347"/>
            <a:ext cx="1907381" cy="368498"/>
          </a:xfrm>
          <a:prstGeom prst="roundRect">
            <a:avLst>
              <a:gd fmla="val 1148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619003" y="2572866"/>
            <a:ext cx="169634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dashboard/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24321" y="2927970"/>
            <a:ext cx="3896544" cy="296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Also includes </a:t>
            </a:r>
            <a:r>
              <a:rPr b="0" i="0" lang="en-US" sz="7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tests/</a:t>
            </a: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0" lang="en-US" sz="7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config/</a:t>
            </a: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0" i="0" lang="en-US" sz="750" u="none" cap="none" strike="noStrike">
                <a:solidFill>
                  <a:srgbClr val="FFFFFF"/>
                </a:solidFill>
                <a:highlight>
                  <a:srgbClr val="282834"/>
                </a:highlight>
                <a:latin typeface="Consolas"/>
                <a:ea typeface="Consolas"/>
                <a:cs typeface="Consolas"/>
                <a:sym typeface="Consolas"/>
              </a:rPr>
              <a:t>scripts/</a:t>
            </a: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directories. Full unit test coverage and CI configuration.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699695" y="1084362"/>
            <a:ext cx="3952949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🖥️</a:t>
            </a: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Working Prototype Hardware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695" y="1333946"/>
            <a:ext cx="1935510" cy="76155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4871889" y="1448991"/>
            <a:ext cx="1648271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Jetson Orin Nano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871889" y="1688306"/>
            <a:ext cx="1648271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30 FPS YOLOv8 real-time inference · $249 edge node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7060" y="1333946"/>
            <a:ext cx="1935584" cy="76155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6889254" y="1448991"/>
            <a:ext cx="1648346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Raspberry Pi 5 + Hailo-8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889254" y="1688306"/>
            <a:ext cx="1648346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15–20 FPS inference · $200 entry-level deployment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699695" y="2187625"/>
            <a:ext cx="3952949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🎥</a:t>
            </a: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Project Demo Video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699695" y="2426940"/>
            <a:ext cx="3952949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Live demonstration covering: YOLOv8 inference on live feed, geofence breach detection, telemetry anomaly detection, and E-Stop relay trip. Duration: 2–3 minutes.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699695" y="2811214"/>
            <a:ext cx="3952949" cy="489793"/>
          </a:xfrm>
          <a:prstGeom prst="roundRect">
            <a:avLst>
              <a:gd fmla="val 8643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451" y="2934816"/>
            <a:ext cx="125983" cy="10075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5027191" y="2910036"/>
            <a:ext cx="3524696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oboto"/>
              <a:buNone/>
            </a:pPr>
            <a:r>
              <a:rPr b="0" i="0" lang="en-US" sz="75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Demo video link  embedded — showcases full end-to-end autonomous safety loop in action.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96119" y="3567112"/>
            <a:ext cx="2552998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📊</a:t>
            </a: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Streamlit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96119" y="3806428"/>
            <a:ext cx="2552998" cy="730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Live video overlay with bounding boxes · Telemetry charts (temperature, vibration, gas) · RUL gauge · E-Stop control buttons. Also includes a static HTML terminal-style dashboard for air-gapped facilities with no browser dependencies.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299743" y="3567112"/>
            <a:ext cx="2552998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⚡</a:t>
            </a: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FastAPI OpenAPI Docs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99743" y="3806428"/>
            <a:ext cx="2552998" cy="593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Interactive Swagger UI at </a:t>
            </a:r>
            <a:r>
              <a:rPr b="0" i="0" lang="en-US" sz="7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/docs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with all 5 endpoints documented — including request/response schemas for </a:t>
            </a:r>
            <a:r>
              <a:rPr b="0" i="0" lang="en-US" sz="75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/trigger-estop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Health, metrics, events, and audit endpoints fully tested.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103367" y="3567112"/>
            <a:ext cx="2552998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🤖</a:t>
            </a: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AI Models &amp;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103367" y="3806428"/>
            <a:ext cx="2552998" cy="933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Char char="•"/>
            </a:pPr>
            <a:r>
              <a:rPr b="1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YOLOv8n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deployed and validated on synthetic sensor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Char char="•"/>
            </a:pPr>
            <a:r>
              <a:rPr b="1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Z-score + EMA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validated on synthetic telemetry streams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Char char="•"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Dataset: synthetic camera feed + emulated IIoT sensors (temperature, vibration, gas)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15250" y="4822025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496119" y="359941"/>
            <a:ext cx="8151763" cy="2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Live Demo: What Works Now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96119" y="798612"/>
            <a:ext cx="396716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Vision Pipeline Feature Map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009948"/>
            <a:ext cx="3967163" cy="171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763094" y="2396239"/>
            <a:ext cx="905876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Geofencing &amp; Overlay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63094" y="2000238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Class 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63094" y="1608238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YOLOv8n Inference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63094" y="1212237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Input Frame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96119" y="2792685"/>
            <a:ext cx="3967163" cy="42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YOLOv8 detects: Helmet, Vest, Person, Machine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Point-in-polygon geofencing via </a:t>
            </a:r>
            <a:r>
              <a:rPr b="0" i="0" lang="en-US" sz="700" u="none" cap="none" strike="noStrike">
                <a:solidFill>
                  <a:srgbClr val="3C393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cv2.pointPolygonTest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bounding box overlay with confidence scores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685481" y="798612"/>
            <a:ext cx="396716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Telemetry Engine Flowchart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481" y="1009948"/>
            <a:ext cx="3967163" cy="171070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4952458" y="2396239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Severity → Broker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952458" y="2000238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RUL Estimation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952458" y="1608238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Anomaly 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952458" y="1212237"/>
            <a:ext cx="900001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aleway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Sensor Input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685481" y="2792685"/>
            <a:ext cx="3967163" cy="412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Z-score + EMA catch thermal drift and vibration spikes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Arrhenius-based RUL predicts equipment failure before it occurs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Char char="•"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Severity classes: </a:t>
            </a:r>
            <a:r>
              <a:rPr b="1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INFO / WARNING / CRITICAL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96119" y="3333155"/>
            <a:ext cx="815176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Safety Loop Performance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96119" y="3613100"/>
            <a:ext cx="2663875" cy="29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300"/>
              <a:buFont typeface="Raleway"/>
              <a:buNone/>
            </a:pPr>
            <a:r>
              <a:rPr b="0" i="0" lang="en-US" sz="2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&lt;200ms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6119" y="3999905"/>
            <a:ext cx="266387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Full Safety Loop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96119" y="4177605"/>
            <a:ext cx="2663875" cy="24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Geofence breach → event broker → E-Stop relay trip. Measured on Jetson Orin Nano.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240063" y="3613100"/>
            <a:ext cx="2663875" cy="29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300"/>
              <a:buFont typeface="Raleway"/>
              <a:buNone/>
            </a:pPr>
            <a:r>
              <a:rPr lang="en-US"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  <a:r>
              <a:rPr b="0" i="0" lang="en-US" sz="2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 FPS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240063" y="3999905"/>
            <a:ext cx="266387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Vision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240063" y="4177605"/>
            <a:ext cx="2663875" cy="24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YOLOv8n inference on Jetson Orin Nano with live bounding box overlays and zone violation highlighting.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984007" y="3613100"/>
            <a:ext cx="2663875" cy="29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300"/>
              <a:buFont typeface="Raleway"/>
              <a:buNone/>
            </a:pPr>
            <a:r>
              <a:rPr b="0" i="0" lang="en-US" sz="2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100%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984007" y="3999905"/>
            <a:ext cx="2663875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Offline Operation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984007" y="4177605"/>
            <a:ext cx="2663875" cy="24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Append-only JSONL audit trail ensures full compliance logging with zero cloud dependency. Air-gap ready.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96119" y="4494758"/>
            <a:ext cx="8151763" cy="288801"/>
          </a:xfrm>
          <a:prstGeom prst="roundRect">
            <a:avLst>
              <a:gd fmla="val 12966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67" y="4583981"/>
            <a:ext cx="111398" cy="8914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785813" y="4581079"/>
            <a:ext cx="8230121" cy="1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Live demo shows: video feed with zone violations, telemetry charts with anomaly markers, RUL countdown gauge, and E-Stop interface — with latency metrics overlay (e.g., </a:t>
            </a:r>
            <a:r>
              <a:rPr b="1" i="0" lang="en-US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18.4ms</a:t>
            </a:r>
            <a:r>
              <a:rPr b="0" i="0" lang="en-US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5250" y="4865100"/>
            <a:ext cx="14287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496119" y="342007"/>
            <a:ext cx="815176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Challenges &amp; Next Plan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96119" y="726579"/>
            <a:ext cx="8151763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Honest assessment of current blockers and the roadmap to production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16570" y="1046783"/>
            <a:ext cx="4100215" cy="3754636"/>
          </a:xfrm>
          <a:prstGeom prst="roundRect">
            <a:avLst>
              <a:gd fmla="val 2119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27000" y="1145158"/>
            <a:ext cx="3879354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Current Challenges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000" y="1428452"/>
            <a:ext cx="3879354" cy="102185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708868" y="1553170"/>
            <a:ext cx="357276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Real-World PLC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08868" y="1824186"/>
            <a:ext cx="357276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Siemens S7 and Allen-Bradley CompactLogix are currently mocked via GPIO/Modbus-TCP abstraction layer. Production deployment requires vendor-specific OPC-UA drivers not yet implemented.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000" y="2548682"/>
            <a:ext cx="3879354" cy="102185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/>
          <p:nvPr/>
        </p:nvSpPr>
        <p:spPr>
          <a:xfrm>
            <a:off x="708868" y="2673400"/>
            <a:ext cx="357276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Thermal RUL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08868" y="2944416"/>
            <a:ext cx="357276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Arrhenius degradation model validated only in simulation. Production calibration requires real equipment degradation data from partner industrial facilities.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000" y="3668911"/>
            <a:ext cx="3879354" cy="102185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708868" y="3793629"/>
            <a:ext cx="357276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Hardware Cost Optimization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08868" y="4064645"/>
            <a:ext cx="357276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Hailo-8 supply chain constraints are a deployment risk. Evaluating alternative accelerators: Coral TPU and Qualcomm Snapdragon as contingency options.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711526" y="1145158"/>
            <a:ext cx="394111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Remaining Work Before Final 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821957" y="1594098"/>
            <a:ext cx="110430" cy="660425"/>
          </a:xfrm>
          <a:prstGeom prst="roundRect">
            <a:avLst>
              <a:gd fmla="val 4201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711526" y="1521619"/>
            <a:ext cx="331366" cy="331366"/>
          </a:xfrm>
          <a:prstGeom prst="ellipse">
            <a:avLst/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4349" y="1604442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/>
          <p:nvPr/>
        </p:nvSpPr>
        <p:spPr>
          <a:xfrm>
            <a:off x="5141268" y="1538883"/>
            <a:ext cx="3511376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1 — Hardware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141268" y="1809899"/>
            <a:ext cx="3511376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Validate sub-20ms latency on real Jetson/Pi hardware in a live industrial facility environment. </a:t>
            </a:r>
            <a:r>
              <a:rPr b="1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 progress.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987603" y="2518618"/>
            <a:ext cx="110430" cy="660425"/>
          </a:xfrm>
          <a:prstGeom prst="roundRect">
            <a:avLst>
              <a:gd fmla="val 4201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877172" y="2446139"/>
            <a:ext cx="331366" cy="331366"/>
          </a:xfrm>
          <a:prstGeom prst="ellipse">
            <a:avLst/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995" y="2528962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5306913" y="2463403"/>
            <a:ext cx="3345731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2 — PLC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306913" y="2734419"/>
            <a:ext cx="3345731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Integrate with 1–2 industrial PLC systems, beginning with Siemens S7 pilot using full OPC-UA driver stack.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153323" y="3443139"/>
            <a:ext cx="110430" cy="827559"/>
          </a:xfrm>
          <a:prstGeom prst="roundRect">
            <a:avLst>
              <a:gd fmla="val 4201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042892" y="3370659"/>
            <a:ext cx="331366" cy="331366"/>
          </a:xfrm>
          <a:prstGeom prst="ellipse">
            <a:avLst/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5715" y="3453482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5472633" y="3387923"/>
            <a:ext cx="3180011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3 — Facility Pilot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472633" y="3658939"/>
            <a:ext cx="3180011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Deploy at a partner facility (mining or manufacturing) with real sensor data to validate RUL model and end-to-end safety loop performance.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4376" y="4750625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496119" y="436215"/>
            <a:ext cx="8151763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950"/>
              <a:buFont typeface="Raleway"/>
              <a:buNone/>
            </a:pPr>
            <a:r>
              <a:rPr b="0" i="0" lang="en-US" sz="1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Impact &amp; Scalability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96119" y="783878"/>
            <a:ext cx="815176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From hackathon prototype to $2.3B industrial safety market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96119" y="1114499"/>
            <a:ext cx="2648992" cy="332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30–40%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96119" y="1558900"/>
            <a:ext cx="2648992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Downtime Reduction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96119" y="1765474"/>
            <a:ext cx="2648992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Predictive RUL estimation reduces unplanned equipment downtime through early failure warnings.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247430" y="1114499"/>
            <a:ext cx="2649066" cy="332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$2.3B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247430" y="1558900"/>
            <a:ext cx="2649066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Market Opportunity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247430" y="1765474"/>
            <a:ext cx="2649066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Total addressable industrial safety market. Edge-first is the only solution for offline, bandwidth-constrained facilities.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998815" y="1114499"/>
            <a:ext cx="2649066" cy="332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$200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998815" y="1558900"/>
            <a:ext cx="2649066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Entry Hardware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998815" y="1765474"/>
            <a:ext cx="2649066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Same software runs on a $200 Raspberry Pi (15–20 FPS) or a $10K Jetson cluster (100+ FPS). No vendor lock-in.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23565" y="2149748"/>
            <a:ext cx="4098057" cy="2557537"/>
          </a:xfrm>
          <a:prstGeom prst="roundRect">
            <a:avLst>
              <a:gd fmla="val 2837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524321" y="2231603"/>
            <a:ext cx="3896544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Who Benefits &amp; How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321" y="2498824"/>
            <a:ext cx="151135" cy="15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757312" y="2503215"/>
            <a:ext cx="366355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Lives Saved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57312" y="2742530"/>
            <a:ext cx="3663553" cy="4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Autonomous detection prevents injuries and fatalities that fatigued human operators inevitably miss. Removes the human-vigilance bottleneck from safety-critical processes.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321" y="3362102"/>
            <a:ext cx="151135" cy="15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1"/>
          <p:cNvSpPr/>
          <p:nvPr/>
        </p:nvSpPr>
        <p:spPr>
          <a:xfrm>
            <a:off x="757312" y="3366492"/>
            <a:ext cx="366355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Compliance Certainty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757312" y="3605808"/>
            <a:ext cx="3663553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Append-only JSONL audit trail eliminates the "I didn't see it" defense in post-incident investigations. Full ISO 13849-1 PLd/PLe integrity level compliance.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321" y="4079304"/>
            <a:ext cx="151135" cy="15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/>
          <p:nvPr/>
        </p:nvSpPr>
        <p:spPr>
          <a:xfrm>
            <a:off x="757312" y="4083695"/>
            <a:ext cx="3663553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Zero Cloud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57312" y="4323011"/>
            <a:ext cx="3663553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cloud subscription, no bandwidth overage fees, no single point of failure. Works fully offline in remote mining, oil &amp; gas, and off-grid manufacturing sites.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699695" y="2231603"/>
            <a:ext cx="3952949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Scope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99695" y="2481188"/>
            <a:ext cx="503932" cy="7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/>
          <p:nvPr/>
        </p:nvSpPr>
        <p:spPr>
          <a:xfrm>
            <a:off x="5285482" y="2581945"/>
            <a:ext cx="3367162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SaaS + Hardware Bundle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285482" y="2821260"/>
            <a:ext cx="3367162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Commercialize as a managed hardware-software package for industrial safety teams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695" y="3214167"/>
            <a:ext cx="503932" cy="7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/>
          <p:nvPr/>
        </p:nvSpPr>
        <p:spPr>
          <a:xfrm>
            <a:off x="5285482" y="3314923"/>
            <a:ext cx="3367162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ERP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285482" y="3554239"/>
            <a:ext cx="3367162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Connect with SAP and Oracle for predictive maintenance workflows and automated work-order generation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9695" y="3947145"/>
            <a:ext cx="503932" cy="60468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5285482" y="4047902"/>
            <a:ext cx="3367162" cy="15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aleway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Expand Safety Domains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285482" y="4287217"/>
            <a:ext cx="3367162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Fire detection, structural health monitoring, confined space entry tracking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15250" y="4780875"/>
            <a:ext cx="14287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686A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686A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